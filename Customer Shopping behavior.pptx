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Figtree"/>
      <p:regular r:id="rId201314"/>
    </p:embeddedFont>
    <p:embeddedFont>
      <p:font typeface="Figtree Medium"/>
      <p:regular r:id="rId201315"/>
    </p:embeddedFont>
    <p:embeddedFont>
      <p:font typeface="Figtree SemiBold"/>
      <p:regular r:id="rId201316"/>
    </p:embeddedFont>
    <p:embeddedFont>
      <p:font typeface="Figtree Bold"/>
      <p:regular r:id="rId201317"/>
    </p:embeddedFont>
    <p:embeddedFont>
      <p:font typeface="Instrument Serif"/>
      <p:regular r:id="rId201318"/>
    </p:embeddedFont>
    <p:embeddedFont>
      <p:font typeface="Urbanist"/>
      <p:regular r:id="rId201319"/>
    </p:embeddedFont>
    <p:embeddedFont>
      <p:font typeface="Urbanist 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866170"/>
            <a:ext cx="4876678" cy="487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6400" spc="-160" kern="100" dirty="0">
                <a:solidFill>
                  <a:srgbClr val="1C1C1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Customer loyalty is strong;</a:t>
            </a:r>
            <a:endParaRPr lang="en-US" sz="64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6400" spc="-160" kern="100" dirty="0">
                <a:solidFill>
                  <a:srgbClr val="1C1C1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subscription conversion is the gap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09585" y="5892542"/>
            <a:ext cx="548626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shopping behavior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125"/>
            <a:ext cx="6522577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80" kern="10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DATASET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60879"/>
            <a:ext cx="5912992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600" spc="-52" kern="1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3,900 purchases reveal a broad, repeat-driven customer base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714897"/>
            <a:ext cx="5912992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3,900 purchases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2103041"/>
            <a:ext cx="5912992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Across 25 products, 4 categories, and 50 locations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2964756"/>
            <a:ext cx="5912992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$59.76 average purchase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3352899"/>
            <a:ext cx="5912992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Average review rating: 3.75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4214614"/>
            <a:ext cx="5912992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37 ratings imputed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4602758"/>
            <a:ext cx="5912992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Missing review ratings were imputed by product-category median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585" y="5464473"/>
            <a:ext cx="5912992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SQL-ready database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585" y="5852616"/>
            <a:ext cx="5912992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cleaned data was loaded into MS SQL Server for SQL analysis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36855" y="0"/>
            <a:ext cx="4754840" cy="6858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5449" y="2127746"/>
            <a:ext cx="4063898" cy="219233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65449" y="4550906"/>
            <a:ext cx="452624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Source dashboard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7723" y="178594"/>
            <a:ext cx="252406" cy="252413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09585" y="2721074"/>
            <a:ext cx="5912992" cy="1270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17" name="Shape 13"/>
          <p:cNvSpPr/>
          <p:nvPr/>
        </p:nvSpPr>
        <p:spPr>
          <a:xfrm>
            <a:off x="609585" y="3970933"/>
            <a:ext cx="5912992" cy="1270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18" name="Shape 14"/>
          <p:cNvSpPr/>
          <p:nvPr/>
        </p:nvSpPr>
        <p:spPr>
          <a:xfrm>
            <a:off x="609585" y="5220791"/>
            <a:ext cx="5912992" cy="1270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19" name="Text 15"/>
          <p:cNvSpPr/>
          <p:nvPr/>
        </p:nvSpPr>
        <p:spPr>
          <a:xfrm>
            <a:off x="11857733" y="6461125"/>
            <a:ext cx="33396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125"/>
            <a:ext cx="11582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80" kern="10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CUSTOMER BASE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74476"/>
            <a:ext cx="10972526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200" spc="-84" kern="1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Loyal customers outnumber subscribers by nearly 3 to 1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74205"/>
            <a:ext cx="6756231" cy="3378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827653"/>
            <a:ext cx="675623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 segments and subscription status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670509" y="2132806"/>
            <a:ext cx="3911601" cy="4115594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899103" y="2987874"/>
            <a:ext cx="345441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Adoption remains the minority behavior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899103" y="3645892"/>
            <a:ext cx="3454413" cy="1756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Loyal: 3,116 customers; returning: 701; new: 83.</a:t>
            </a:r>
            <a:endParaRPr lang="en-US" sz="1400" dirty="0"/>
          </a:p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Subscribers: 1,053 customers, versus 2,847 non-subscribers.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Revenue: subscribers contributed $62,645; non-subscribers contributed $170,436.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7723" y="178594"/>
            <a:ext cx="252406" cy="2524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59618" y="6461125"/>
            <a:ext cx="33207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125"/>
            <a:ext cx="11582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80" kern="10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GROWTH LEVER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74476"/>
            <a:ext cx="10972526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200" spc="-84" kern="1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The next growth lever is converting repeat buyers, not finding more first-time buyers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466280"/>
            <a:ext cx="6756231" cy="3498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6040378"/>
            <a:ext cx="675623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Repeat buyers by subscription status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670509" y="2132806"/>
            <a:ext cx="3911601" cy="4420394"/>
          </a:xfrm>
          <a:prstGeom prst="roundRect">
            <a:avLst>
              <a:gd name="adj" fmla="val 4675"/>
            </a:avLst>
          </a:prstGeom>
          <a:solidFill>
            <a:srgbClr val="DAD6CF"/>
          </a:solidFill>
          <a:ln/>
        </p:spPr>
      </p:sp>
      <p:sp>
        <p:nvSpPr>
          <p:cNvPr id="7" name="Text 4"/>
          <p:cNvSpPr/>
          <p:nvPr/>
        </p:nvSpPr>
        <p:spPr>
          <a:xfrm>
            <a:off x="7899103" y="3450431"/>
            <a:ext cx="345441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Most repeat buyers are still outside the subscription program.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899103" y="4108450"/>
            <a:ext cx="3454413" cy="1135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Repeat buyers: 958 subscribers and 2,518 non-subscribers.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 loyalty signals and purchase history to target subscription offers.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7723" y="178594"/>
            <a:ext cx="252406" cy="2524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49796" y="6461125"/>
            <a:ext cx="34189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125"/>
            <a:ext cx="11582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80" kern="10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REVENUE MIX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74476"/>
            <a:ext cx="10972526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200" spc="-84" kern="1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Revenue is distributed across age groups, with young adults slightly ahead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2363629"/>
            <a:ext cx="640064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Revenue by age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585" y="2661245"/>
            <a:ext cx="2971626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Young Adult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3048255"/>
            <a:ext cx="297162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600" spc="-52" kern="1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$62,143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038400" y="2661245"/>
            <a:ext cx="2971726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Middle-aged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038400" y="3048255"/>
            <a:ext cx="297172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600" spc="-52" kern="1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$59,197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9585" y="4575870"/>
            <a:ext cx="2971626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Adult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9585" y="4962879"/>
            <a:ext cx="297162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600" spc="-52" kern="1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$55,978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038400" y="4575870"/>
            <a:ext cx="2971726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Senior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038400" y="4962879"/>
            <a:ext cx="2971726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2600" spc="-52" kern="1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$55,763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7314918" y="2132806"/>
            <a:ext cx="4267192" cy="4115594"/>
          </a:xfrm>
          <a:prstGeom prst="roundRect">
            <a:avLst>
              <a:gd name="adj" fmla="val 4443"/>
            </a:avLst>
          </a:prstGeom>
          <a:solidFill>
            <a:srgbClr val="DAD6CF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512" y="3448645"/>
            <a:ext cx="4038598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80" kern="100" dirty="0">
                <a:solidFill>
                  <a:srgbClr val="000000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GENDER REVENUE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43512" y="3721282"/>
            <a:ext cx="3810004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115" kern="100" dirty="0">
                <a:solidFill>
                  <a:srgbClr val="00000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$157,890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7543512" y="4426545"/>
            <a:ext cx="3810004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Male customers generated $157,890 versus $75,191 from female customers.</a:t>
            </a:r>
            <a:endParaRPr lang="en-US" sz="14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7723" y="178594"/>
            <a:ext cx="252406" cy="252413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3803456" y="2647752"/>
            <a:ext cx="12700" cy="1686024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19" name="Shape 16"/>
          <p:cNvSpPr/>
          <p:nvPr/>
        </p:nvSpPr>
        <p:spPr>
          <a:xfrm>
            <a:off x="609585" y="4327426"/>
            <a:ext cx="3200221" cy="1270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20" name="Shape 17"/>
          <p:cNvSpPr/>
          <p:nvPr/>
        </p:nvSpPr>
        <p:spPr>
          <a:xfrm>
            <a:off x="3803456" y="4333776"/>
            <a:ext cx="12700" cy="1686024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21" name="Shape 18"/>
          <p:cNvSpPr/>
          <p:nvPr/>
        </p:nvSpPr>
        <p:spPr>
          <a:xfrm>
            <a:off x="3809805" y="4327426"/>
            <a:ext cx="3200320" cy="1270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22" name="Text 19"/>
          <p:cNvSpPr/>
          <p:nvPr/>
        </p:nvSpPr>
        <p:spPr>
          <a:xfrm>
            <a:off x="11855650" y="6461125"/>
            <a:ext cx="33604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125"/>
            <a:ext cx="11582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80" kern="10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PRODUCT DEMAND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74476"/>
            <a:ext cx="10972526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200" spc="-84" kern="1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Accessories lead demand, while footwear creates a strong product story</a:t>
            </a:r>
            <a:endParaRPr lang="en-US" sz="4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74205"/>
            <a:ext cx="6756231" cy="3378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827653"/>
            <a:ext cx="675623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262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Top products by orders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670509" y="2132806"/>
            <a:ext cx="3911601" cy="4115594"/>
          </a:xfrm>
          <a:prstGeom prst="roundRect">
            <a:avLst>
              <a:gd name="adj" fmla="val 4675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899103" y="2941538"/>
            <a:ext cx="3454413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Lead with demand, then add proof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899103" y="3329682"/>
            <a:ext cx="3454413" cy="2118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Accessories: Jewelry 171 orders; Sunglasses 161; Belt 161.</a:t>
            </a:r>
            <a:endParaRPr lang="en-US" sz="1400" dirty="0"/>
          </a:p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Clothing: Blouse 171; Pants 171; Shirt 169.</a:t>
            </a:r>
            <a:endParaRPr lang="en-US" sz="1400" dirty="0"/>
          </a:p>
          <a:p>
            <a:pPr algn="l" indent="0" marL="0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Footwear: Sandals 160; Shoes 150; Sneakers 145.</a:t>
            </a:r>
            <a:endParaRPr lang="en-US" sz="14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Highest-rated: Gloves 3.86; Sandals 3.84; Boots 3.82.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7723" y="178594"/>
            <a:ext cx="252406" cy="2524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56840" y="6461125"/>
            <a:ext cx="33485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125"/>
            <a:ext cx="11582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80" kern="10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DISCOUNT EXPOSURE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74476"/>
            <a:ext cx="10972526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200" spc="-84" kern="1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Discounts are common in several categories, but not all discounts are equal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09585" y="2132806"/>
            <a:ext cx="6756231" cy="4115594"/>
          </a:xfrm>
          <a:prstGeom prst="roundRect">
            <a:avLst>
              <a:gd name="adj" fmla="val 4443"/>
            </a:avLst>
          </a:prstGeom>
          <a:solidFill>
            <a:srgbClr val="FFFFF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179" y="2566095"/>
          <a:ext cx="6299043" cy="914400"/>
        </p:xfrm>
        <a:graphic>
          <a:graphicData uri="http://schemas.openxmlformats.org/drawingml/2006/table">
            <a:tbl>
              <a:tblPr/>
              <a:tblGrid>
                <a:gridCol w="3275482"/>
                <a:gridCol w="3023560"/>
              </a:tblGrid>
              <a:tr h="4927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Product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Discount rate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Hat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50.00%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Sneakers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49.66%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Coat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49.07%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7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Sweater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48.17%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6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Pants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C1C1B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47.37%</a:t>
                      </a:r>
                      <a:endParaRPr lang="en-US" sz="1400" dirty="0">
                        <a:latin typeface="Figtree" charset="0"/>
                        <a:ea typeface="Figtree" charset="0"/>
                        <a:cs typeface="Figtree" charset="0"/>
                      </a:endParaRPr>
                    </a:p>
                  </a:txBody>
                  <a:tcPr marL="177796" marR="177796" marT="114297" marB="114297" anchor="ctr">
                    <a:lnL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38179" y="5635764"/>
            <a:ext cx="652763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Products with the highest discount rates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670509" y="2132806"/>
            <a:ext cx="3911601" cy="4115594"/>
          </a:xfrm>
          <a:prstGeom prst="roundRect">
            <a:avLst>
              <a:gd name="adj" fmla="val 4675"/>
            </a:avLst>
          </a:prstGeom>
          <a:solidFill>
            <a:srgbClr val="DAD6CF"/>
          </a:solidFill>
          <a:ln/>
        </p:spPr>
      </p:sp>
      <p:sp>
        <p:nvSpPr>
          <p:cNvPr id="8" name="Text 5"/>
          <p:cNvSpPr/>
          <p:nvPr/>
        </p:nvSpPr>
        <p:spPr>
          <a:xfrm>
            <a:off x="7899103" y="3143432"/>
            <a:ext cx="3454413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115" kern="100" dirty="0">
                <a:solidFill>
                  <a:srgbClr val="000000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839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7899103" y="3848695"/>
            <a:ext cx="3454413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Customers spent above the average purchase amount while using discounts.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899103" y="4513461"/>
            <a:ext cx="1139796" cy="38100"/>
          </a:xfrm>
          <a:prstGeom prst="roundRect">
            <a:avLst>
              <a:gd name="adj" fmla="val 49999"/>
            </a:avLst>
          </a:prstGeom>
          <a:solidFill>
            <a:srgbClr val="111111"/>
          </a:solidFill>
          <a:ln/>
        </p:spPr>
      </p:sp>
      <p:sp>
        <p:nvSpPr>
          <p:cNvPr id="11" name="Text 8"/>
          <p:cNvSpPr/>
          <p:nvPr/>
        </p:nvSpPr>
        <p:spPr>
          <a:xfrm>
            <a:off x="7899103" y="4763492"/>
            <a:ext cx="345441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Separate margin-protecting offers from blanket discounting.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7723" y="178594"/>
            <a:ext cx="252406" cy="2524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60511" y="6461125"/>
            <a:ext cx="33118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125"/>
            <a:ext cx="11582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80" kern="10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VALUE SIGNAL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74476"/>
            <a:ext cx="10972526" cy="559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200" spc="-84" kern="1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Shipping speed is a small but visible value signal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09585" y="1572816"/>
            <a:ext cx="5333867" cy="4675584"/>
          </a:xfrm>
          <a:prstGeom prst="roundRect">
            <a:avLst>
              <a:gd name="adj" fmla="val 391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443797"/>
            <a:ext cx="510527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Average purchase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8179" y="2838632"/>
            <a:ext cx="4876678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115" kern="100" dirty="0">
                <a:solidFill>
                  <a:srgbClr val="1C1C1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$60.48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38179" y="3479602"/>
            <a:ext cx="4876678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Express shipping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38179" y="3912195"/>
            <a:ext cx="4876678" cy="19050"/>
          </a:xfrm>
          <a:prstGeom prst="roundRect">
            <a:avLst>
              <a:gd name="adj" fmla="val 49999"/>
            </a:avLst>
          </a:prstGeom>
          <a:solidFill>
            <a:srgbClr val="D9D9D5"/>
          </a:solidFill>
          <a:ln/>
        </p:spPr>
      </p:sp>
      <p:sp>
        <p:nvSpPr>
          <p:cNvPr id="9" name="Text 7"/>
          <p:cNvSpPr/>
          <p:nvPr/>
        </p:nvSpPr>
        <p:spPr>
          <a:xfrm>
            <a:off x="838179" y="4082693"/>
            <a:ext cx="5105272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Standard shipping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8179" y="4477528"/>
            <a:ext cx="4876678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00" spc="-115" kern="100" dirty="0">
                <a:solidFill>
                  <a:srgbClr val="1C1C1B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$58.46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838179" y="5118497"/>
            <a:ext cx="4876678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C1C1B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Express leads by $2.02.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48244" y="3150394"/>
            <a:ext cx="5333867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Review rating: 3.75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48244" y="3538537"/>
            <a:ext cx="5333867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Average rating across the dataset.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48244" y="4033639"/>
            <a:ext cx="5333867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Test express-shipping messaging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48244" y="4421783"/>
            <a:ext cx="5333867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Position it as a premium benefit alongside subscription offers.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7723" y="178594"/>
            <a:ext cx="252406" cy="25241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50689" y="6461125"/>
            <a:ext cx="34100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125"/>
            <a:ext cx="1158211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spc="80" kern="100" dirty="0">
                <a:solidFill>
                  <a:srgbClr val="62625F"/>
                </a:solidFill>
                <a:latin typeface="Figtree Medium" pitchFamily="34" charset="0"/>
                <a:ea typeface="Figtree Medium" pitchFamily="34" charset="-122"/>
                <a:cs typeface="Figtree Medium" pitchFamily="34" charset="-120"/>
              </a:rPr>
              <a:t>DECISION 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874476"/>
            <a:ext cx="10972526" cy="1119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200" spc="-84" kern="100" dirty="0">
                <a:solidFill>
                  <a:srgbClr val="111111"/>
                </a:solidFill>
                <a:latin typeface="Urbanist" pitchFamily="34" charset="0"/>
                <a:ea typeface="Urbanist" pitchFamily="34" charset="-122"/>
                <a:cs typeface="Urbanist" pitchFamily="34" charset="-120"/>
              </a:rPr>
              <a:t>Three moves can turn shopping behavior into growth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2119114"/>
            <a:ext cx="84532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01.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97719" y="2141538"/>
            <a:ext cx="10584391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Convert repeat buyers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97719" y="2529681"/>
            <a:ext cx="1058439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Target the 2,518 repeat buyers outside subscriptions with exclusive benefits.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9585" y="3419872"/>
            <a:ext cx="881933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02.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34330" y="3442295"/>
            <a:ext cx="10547781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Protect margin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34330" y="3830439"/>
            <a:ext cx="10547781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Review discount-heavy products and focus promotions where high spend persists.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585" y="4720630"/>
            <a:ext cx="871516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000" i="1" dirty="0">
                <a:solidFill>
                  <a:srgbClr val="11111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03.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23912" y="4743053"/>
            <a:ext cx="10558198" cy="269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Prioritize demand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23912" y="5131197"/>
            <a:ext cx="10558198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Feature top-rated products, lead with accessories and footwear, and tailor campaigns by age group and shipping preference.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585" y="5736630"/>
            <a:ext cx="10972526" cy="511770"/>
          </a:xfrm>
          <a:prstGeom prst="roundRect">
            <a:avLst>
              <a:gd name="adj" fmla="val 49999"/>
            </a:avLst>
          </a:prstGeom>
          <a:solidFill>
            <a:srgbClr val="111111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5" y="5863630"/>
            <a:ext cx="10972526" cy="257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 the dashboard to track subscription conversion, repeat-buyer movement, discount exposure, and category revenue over time.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7723" y="178594"/>
            <a:ext cx="252406" cy="252413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09585" y="3198614"/>
            <a:ext cx="10972526" cy="1270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585" y="4499372"/>
            <a:ext cx="10972526" cy="12700"/>
          </a:xfrm>
          <a:prstGeom prst="rect">
            <a:avLst/>
          </a:prstGeom>
          <a:solidFill>
            <a:srgbClr val="D9D9D5"/>
          </a:solidFill>
          <a:ln/>
        </p:spPr>
      </p:sp>
      <p:sp>
        <p:nvSpPr>
          <p:cNvPr id="18" name="Text 15"/>
          <p:cNvSpPr/>
          <p:nvPr/>
        </p:nvSpPr>
        <p:spPr>
          <a:xfrm>
            <a:off x="11856840" y="6461125"/>
            <a:ext cx="334855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000" dirty="0">
                <a:solidFill>
                  <a:srgbClr val="1C1C1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2026-10-09T19:01:43Z</dcterms:created>
  <dcterms:modified xsi:type="dcterms:W3CDTF">2026-10-09T19:01:43Z</dcterms:modified>
</cp:coreProperties>
</file>